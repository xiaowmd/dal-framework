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63" r:id="rId20"/>
    <p:sldId id="276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0" d="100"/>
          <a:sy n="140" d="100"/>
        </p:scale>
        <p:origin x="150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36164;&#26009;\Discern\OHI_data\evaluation%20results\outpu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zh-CN" dirty="0"/>
              <a:t>小样本评分</a:t>
            </a:r>
            <a:r>
              <a:rPr lang="en-US" dirty="0" err="1"/>
              <a:t>Krippendorff's</a:t>
            </a:r>
            <a:r>
              <a:rPr lang="en-US" dirty="0"/>
              <a:t> Alpha</a:t>
            </a:r>
            <a:r>
              <a:rPr lang="zh-CN" dirty="0"/>
              <a:t>结果</a:t>
            </a:r>
            <a:endParaRPr lang="en-US" dirty="0"/>
          </a:p>
          <a:p>
            <a:pPr algn="ctr" rtl="0">
              <a:defRPr/>
            </a:pPr>
            <a:r>
              <a:rPr lang="zh-CN" dirty="0"/>
              <a:t>（</a:t>
            </a:r>
            <a:r>
              <a:rPr lang="zh-CN" altLang="en-US" dirty="0"/>
              <a:t>橙色</a:t>
            </a:r>
            <a:r>
              <a:rPr lang="zh-CN" dirty="0"/>
              <a:t>为原论文重点关注的问题）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结果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41D-4812-BDCF-3CDBB357AC75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41D-4812-BDCF-3CDBB357AC75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41D-4812-BDCF-3CDBB357AC75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41D-4812-BDCF-3CDBB357AC75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41D-4812-BDCF-3CDBB357AC7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Sheet1!$A$2:$A$17</c:f>
              <c:strCache>
                <c:ptCount val="16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</c:strCache>
            </c:strRef>
          </c:cat>
          <c:val>
            <c:numRef>
              <c:f>Sheet1!$B$2:$B$17</c:f>
              <c:numCache>
                <c:formatCode>0.000_ </c:formatCode>
                <c:ptCount val="16"/>
                <c:pt idx="0">
                  <c:v>-0.15986635618102649</c:v>
                </c:pt>
                <c:pt idx="1">
                  <c:v>-0.18974166039628801</c:v>
                </c:pt>
                <c:pt idx="2">
                  <c:v>0.1153092067641532</c:v>
                </c:pt>
                <c:pt idx="3">
                  <c:v>8.9604697320542437E-2</c:v>
                </c:pt>
                <c:pt idx="4">
                  <c:v>7.3950091296408949E-2</c:v>
                </c:pt>
                <c:pt idx="5">
                  <c:v>3.0906300622388971E-2</c:v>
                </c:pt>
                <c:pt idx="6">
                  <c:v>-0.13549121665582309</c:v>
                </c:pt>
                <c:pt idx="7">
                  <c:v>-9.4912095924815532E-2</c:v>
                </c:pt>
                <c:pt idx="8">
                  <c:v>0.1336189796080299</c:v>
                </c:pt>
                <c:pt idx="9">
                  <c:v>0.17844029374201789</c:v>
                </c:pt>
                <c:pt idx="10">
                  <c:v>8.2205598049928441E-2</c:v>
                </c:pt>
                <c:pt idx="11">
                  <c:v>-7.0390057062456046E-2</c:v>
                </c:pt>
                <c:pt idx="12">
                  <c:v>-1.459237819585146E-2</c:v>
                </c:pt>
                <c:pt idx="13">
                  <c:v>0.1595526720163907</c:v>
                </c:pt>
                <c:pt idx="14">
                  <c:v>-2.221700696237194E-2</c:v>
                </c:pt>
                <c:pt idx="15">
                  <c:v>0.1243490610699068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41D-4812-BDCF-3CDBB357AC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831169967"/>
        <c:axId val="1831173807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高阈值</c:v>
                </c:pt>
              </c:strCache>
            </c:strRef>
          </c:tx>
          <c:spPr>
            <a:ln w="28575" cap="rnd">
              <a:solidFill>
                <a:sysClr val="windowText" lastClr="000000"/>
              </a:solidFill>
              <a:prstDash val="sysDot"/>
              <a:round/>
            </a:ln>
            <a:effectLst/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0.8</c:v>
                </c:pt>
                <c:pt idx="1">
                  <c:v>0.8</c:v>
                </c:pt>
                <c:pt idx="2">
                  <c:v>0.8</c:v>
                </c:pt>
                <c:pt idx="3">
                  <c:v>0.8</c:v>
                </c:pt>
                <c:pt idx="4">
                  <c:v>0.8</c:v>
                </c:pt>
                <c:pt idx="5">
                  <c:v>0.8</c:v>
                </c:pt>
                <c:pt idx="6">
                  <c:v>0.8</c:v>
                </c:pt>
                <c:pt idx="7">
                  <c:v>0.8</c:v>
                </c:pt>
                <c:pt idx="8">
                  <c:v>0.8</c:v>
                </c:pt>
                <c:pt idx="9">
                  <c:v>0.8</c:v>
                </c:pt>
                <c:pt idx="10">
                  <c:v>0.8</c:v>
                </c:pt>
                <c:pt idx="11">
                  <c:v>0.8</c:v>
                </c:pt>
                <c:pt idx="12">
                  <c:v>0.8</c:v>
                </c:pt>
                <c:pt idx="13">
                  <c:v>0.8</c:v>
                </c:pt>
                <c:pt idx="14">
                  <c:v>0.8</c:v>
                </c:pt>
                <c:pt idx="15">
                  <c:v>0.8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541D-4812-BDCF-3CDBB357AC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31169967"/>
        <c:axId val="1831173807"/>
      </c:lineChart>
      <c:catAx>
        <c:axId val="18311699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31173807"/>
        <c:crosses val="autoZero"/>
        <c:auto val="1"/>
        <c:lblAlgn val="ctr"/>
        <c:lblOffset val="100"/>
        <c:noMultiLvlLbl val="0"/>
      </c:catAx>
      <c:valAx>
        <c:axId val="18311738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311699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lt1"/>
    </a:solidFill>
    <a:ln w="12700" cap="flat" cmpd="sng" algn="ctr">
      <a:solidFill>
        <a:schemeClr val="dk1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7A452D-EE2F-4A1B-73A3-693D27A1A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D63A2D4-BEC3-DD92-EF36-E56AC8CF65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0079F7-8EA7-8629-9BEC-0A7C3C0B2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4F6BD-1035-48CE-BC8C-E5332883AB17}" type="datetimeFigureOut">
              <a:rPr lang="zh-CN" altLang="en-US" smtClean="0"/>
              <a:t>2025/1/8/Wed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236D82-017E-7BA3-5CE9-EF71A710A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B1156A-48A0-CDDD-9685-7A08715C4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7774B-4678-44E7-9DB6-76E59B59AE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278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1F2C22-8D93-11CA-E2AE-134BC5182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47DCDD-86AA-8696-0D9E-C4553099B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E93AB4-D50B-93FA-77F0-8DBE93047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4F6BD-1035-48CE-BC8C-E5332883AB17}" type="datetimeFigureOut">
              <a:rPr lang="zh-CN" altLang="en-US" smtClean="0"/>
              <a:t>2025/1/8/Wed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F9F259-D447-9ACA-BDAB-F9215C964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DA0FB8-FCC9-C04A-2817-49C007DBC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7774B-4678-44E7-9DB6-76E59B59AE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434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22D9BE-E7CF-3183-B8CF-33700D0A0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764D67-4F27-E86A-20EB-FFA186C22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E4B62D-F5CC-6F57-55EA-57A85F923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4F6BD-1035-48CE-BC8C-E5332883AB17}" type="datetimeFigureOut">
              <a:rPr lang="zh-CN" altLang="en-US" smtClean="0"/>
              <a:t>2025/1/8/Wed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0E95EF-E23F-41B0-A6DB-A8D28D82A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7C656F-7110-CFAF-3D50-B37931264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7774B-4678-44E7-9DB6-76E59B59AE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3019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887E55-AB41-05A7-E22C-A21B3C136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B23C23-A1C6-4702-7427-72F85A75DB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EF108F6-7A62-93AD-AE40-F3B4A70B7D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00798A-370B-E449-0670-ED2276864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4F6BD-1035-48CE-BC8C-E5332883AB17}" type="datetimeFigureOut">
              <a:rPr lang="zh-CN" altLang="en-US" smtClean="0"/>
              <a:t>2025/1/8/Wed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6FCBC0-01A1-C929-92BD-D6AA5EF25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79CC41-93C3-EF27-D4C2-3D5958B0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7774B-4678-44E7-9DB6-76E59B59AE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373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FF3A82-1478-1D6C-C4B8-E016A81DC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773A54-0281-13D3-6271-6D4A1F35F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5D9526C-F866-F6B7-B594-AE390A88C7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2E3643A-EB23-2A3D-7719-707E906ADE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B5BB670-2177-33E5-3B56-CD7CB9E3C9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4CF8C0F-3ECD-2A8C-0FB8-A685C4CEA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4F6BD-1035-48CE-BC8C-E5332883AB17}" type="datetimeFigureOut">
              <a:rPr lang="zh-CN" altLang="en-US" smtClean="0"/>
              <a:t>2025/1/8/Wed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B870773-DB1F-F0FD-42BD-F4BEF6881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E9A605E-E7CB-5BE4-57E4-BB4FBC0D4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7774B-4678-44E7-9DB6-76E59B59AE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791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AFC154-1DB2-AC38-C7F7-6336A9F84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CE13627-2628-E2E3-07D7-6C7732B7C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4F6BD-1035-48CE-BC8C-E5332883AB17}" type="datetimeFigureOut">
              <a:rPr lang="zh-CN" altLang="en-US" smtClean="0"/>
              <a:t>2025/1/8/Wed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B0264F3-EBE0-BAB1-E54F-1BB3880C6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26CE26-41F8-4282-A81B-8BAF6A760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7774B-4678-44E7-9DB6-76E59B59AE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1258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873C610-051F-F09F-9B18-CEC231B4E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4F6BD-1035-48CE-BC8C-E5332883AB17}" type="datetimeFigureOut">
              <a:rPr lang="zh-CN" altLang="en-US" smtClean="0"/>
              <a:t>2025/1/8/Wed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8F8055F-56C8-B203-DD62-35CDD7DE7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5C3525-24E6-92CD-7FD7-F6A81FB06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7774B-4678-44E7-9DB6-76E59B59AE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776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F17356-70B9-5878-88C0-6262250F5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702C71-EB19-C126-5374-375433A10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0D6C144-C36E-A300-9FC4-74BD3B534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D55E95-7645-3A32-9118-08089D1DE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4F6BD-1035-48CE-BC8C-E5332883AB17}" type="datetimeFigureOut">
              <a:rPr lang="zh-CN" altLang="en-US" smtClean="0"/>
              <a:t>2025/1/8/Wed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8D3DF1-8261-5E7E-A327-7FD1B6B36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E7AEC8-B1C8-4410-FA4A-7999D5AB5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7774B-4678-44E7-9DB6-76E59B59AE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6203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C0FA5A-B6D2-513F-E5C6-62E896FF7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7CCF820-C0D4-01B5-3DA7-76116383C4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AFD547-DF14-D0DE-8C82-67B7A73F91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2B8ADD-3E36-3246-B9E6-10314A778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4F6BD-1035-48CE-BC8C-E5332883AB17}" type="datetimeFigureOut">
              <a:rPr lang="zh-CN" altLang="en-US" smtClean="0"/>
              <a:t>2025/1/8/Wed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F20937-30F9-9B78-4474-222EC192A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32FA79-E7B3-574A-7886-F9F1F29DE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7774B-4678-44E7-9DB6-76E59B59AE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5981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16F9E-1793-7516-8D29-B1A9042F1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D10520-8736-01FF-B0EF-86BD96DA4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C547E5-1D91-53B5-D260-88768BE61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4F6BD-1035-48CE-BC8C-E5332883AB17}" type="datetimeFigureOut">
              <a:rPr lang="zh-CN" altLang="en-US" smtClean="0"/>
              <a:t>2025/1/8/Wed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A77833-EF01-267A-9D75-1124AF3FF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6CD304-23F9-1905-35E3-9BF48CAC6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7774B-4678-44E7-9DB6-76E59B59AE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096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594D2AD-1B89-45F2-62F4-3F207338BD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F27D63E-2CA2-86DC-7F93-1E3203EDC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C28A05-51A3-86BE-6DBD-92EDEAABA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4F6BD-1035-48CE-BC8C-E5332883AB17}" type="datetimeFigureOut">
              <a:rPr lang="zh-CN" altLang="en-US" smtClean="0"/>
              <a:t>2025/1/8/Wed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9E4B75-B9FB-A043-8314-5BCDC09AB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11710E-2061-9486-89C0-098E8BED9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7774B-4678-44E7-9DB6-76E59B59AE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871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E83C9E2-F741-AA7A-8FD5-589BE8F6C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F59CD2-BF39-66E5-E142-DDD488D92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5B6E53-55A8-B8BB-2E4C-024FC60F04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14F6BD-1035-48CE-BC8C-E5332883AB17}" type="datetimeFigureOut">
              <a:rPr lang="zh-CN" altLang="en-US" smtClean="0"/>
              <a:t>2025/1/8/Wed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DA9C1A-15FE-BDEC-F175-72C76ACEB4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2F7309-3982-B695-18D4-0D0227831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57774B-4678-44E7-9DB6-76E59B59AE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77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26B48B78-654C-0052-215F-2AB880A8F9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5666210"/>
              </p:ext>
            </p:extLst>
          </p:nvPr>
        </p:nvGraphicFramePr>
        <p:xfrm>
          <a:off x="4603750" y="1029128"/>
          <a:ext cx="6365082" cy="44779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E729A84-94B9-7AC8-0391-EADA00F105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037311"/>
              </p:ext>
            </p:extLst>
          </p:nvPr>
        </p:nvGraphicFramePr>
        <p:xfrm>
          <a:off x="1619250" y="584224"/>
          <a:ext cx="1663700" cy="3653215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831850">
                  <a:extLst>
                    <a:ext uri="{9D8B030D-6E8A-4147-A177-3AD203B41FA5}">
                      <a16:colId xmlns:a16="http://schemas.microsoft.com/office/drawing/2014/main" val="3723976106"/>
                    </a:ext>
                  </a:extLst>
                </a:gridCol>
                <a:gridCol w="831850">
                  <a:extLst>
                    <a:ext uri="{9D8B030D-6E8A-4147-A177-3AD203B41FA5}">
                      <a16:colId xmlns:a16="http://schemas.microsoft.com/office/drawing/2014/main" val="3597736637"/>
                    </a:ext>
                  </a:extLst>
                </a:gridCol>
              </a:tblGrid>
              <a:tr h="214895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问题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u="none" strike="noStrike" dirty="0">
                          <a:effectLst/>
                        </a:rPr>
                        <a:t>结果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999522"/>
                  </a:ext>
                </a:extLst>
              </a:tr>
              <a:tr h="2148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Q1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-0.160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39106535"/>
                  </a:ext>
                </a:extLst>
              </a:tr>
              <a:tr h="2148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Q2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-0.190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53471767"/>
                  </a:ext>
                </a:extLst>
              </a:tr>
              <a:tr h="2148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Q3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0.115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78831983"/>
                  </a:ext>
                </a:extLst>
              </a:tr>
              <a:tr h="2148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Q4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 dirty="0">
                          <a:effectLst/>
                        </a:rPr>
                        <a:t>0.090 </a:t>
                      </a:r>
                      <a:endParaRPr lang="en-US" altLang="zh-CN" sz="1100" b="0" i="0" u="none" strike="noStrike" dirty="0"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31153582"/>
                  </a:ext>
                </a:extLst>
              </a:tr>
              <a:tr h="2148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Q5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0.074 </a:t>
                      </a:r>
                      <a:endParaRPr lang="en-US" altLang="zh-CN" sz="1100" b="0" i="0" u="none" strike="noStrike"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2689860"/>
                  </a:ext>
                </a:extLst>
              </a:tr>
              <a:tr h="2148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Q6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0.031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41418603"/>
                  </a:ext>
                </a:extLst>
              </a:tr>
              <a:tr h="2148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Q7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-0.135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90131177"/>
                  </a:ext>
                </a:extLst>
              </a:tr>
              <a:tr h="2148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Q8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-0.095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27003188"/>
                  </a:ext>
                </a:extLst>
              </a:tr>
              <a:tr h="2148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Q9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0.134 </a:t>
                      </a:r>
                      <a:endParaRPr lang="en-US" altLang="zh-CN" sz="1100" b="0" i="0" u="none" strike="noStrike"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65093095"/>
                  </a:ext>
                </a:extLst>
              </a:tr>
              <a:tr h="2148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Q10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0.178 </a:t>
                      </a:r>
                      <a:endParaRPr lang="en-US" altLang="zh-CN" sz="1100" b="0" i="0" u="none" strike="noStrike"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34654480"/>
                  </a:ext>
                </a:extLst>
              </a:tr>
              <a:tr h="2148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Q11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0.082 </a:t>
                      </a:r>
                      <a:endParaRPr lang="en-US" altLang="zh-CN" sz="1100" b="0" i="0" u="none" strike="noStrike"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72323805"/>
                  </a:ext>
                </a:extLst>
              </a:tr>
              <a:tr h="2148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Q12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-0.070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2073568"/>
                  </a:ext>
                </a:extLst>
              </a:tr>
              <a:tr h="2148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Q13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-0.015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0020731"/>
                  </a:ext>
                </a:extLst>
              </a:tr>
              <a:tr h="2148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Q14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0.160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1813999"/>
                  </a:ext>
                </a:extLst>
              </a:tr>
              <a:tr h="2148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Q15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-0.022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02607355"/>
                  </a:ext>
                </a:extLst>
              </a:tr>
              <a:tr h="2148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Q16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 dirty="0">
                          <a:effectLst/>
                        </a:rPr>
                        <a:t>0.124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37837465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BD7DB019-0ACE-9588-9DFC-BB174A7CCAD2}"/>
              </a:ext>
            </a:extLst>
          </p:cNvPr>
          <p:cNvSpPr txBox="1"/>
          <p:nvPr/>
        </p:nvSpPr>
        <p:spPr>
          <a:xfrm>
            <a:off x="665558" y="5507037"/>
            <a:ext cx="38492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评分顺序：（马军豪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陈善丽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方琪川）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2538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CDC13B3-F500-B94E-AEDF-79D9B3032910}"/>
              </a:ext>
            </a:extLst>
          </p:cNvPr>
          <p:cNvSpPr txBox="1"/>
          <p:nvPr/>
        </p:nvSpPr>
        <p:spPr>
          <a:xfrm>
            <a:off x="996950" y="552450"/>
            <a:ext cx="27739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Q1</a:t>
            </a:r>
            <a:r>
              <a:rPr lang="en-US" altLang="zh-CN" dirty="0"/>
              <a:t> 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Are the aims clear?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96998FF-5A43-552C-2D65-DAD2E295A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6610" y="1316369"/>
            <a:ext cx="5318781" cy="906242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EAD28B8-AB2F-A1A0-2A47-7D00741D3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40199"/>
            <a:ext cx="12192000" cy="1205964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154BC04-4367-2BCB-82AA-64D810638F76}"/>
              </a:ext>
            </a:extLst>
          </p:cNvPr>
          <p:cNvSpPr txBox="1"/>
          <p:nvPr/>
        </p:nvSpPr>
        <p:spPr>
          <a:xfrm>
            <a:off x="577850" y="4019550"/>
            <a:ext cx="37240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符合例子中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分的标准：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B15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1,5,5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B10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1,5,4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79DDCF3-5790-FF07-05D6-B64DF5802E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03642"/>
            <a:ext cx="12192000" cy="23527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7B54875-FDE2-2B7C-F100-2200942B9F53}"/>
              </a:ext>
            </a:extLst>
          </p:cNvPr>
          <p:cNvSpPr txBox="1"/>
          <p:nvPr/>
        </p:nvSpPr>
        <p:spPr>
          <a:xfrm>
            <a:off x="577850" y="3663751"/>
            <a:ext cx="99028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Aim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是指文章提出了一个要实现的目标或是文章的目的，而不是简单的罗列知识和内容</a:t>
            </a:r>
          </a:p>
        </p:txBody>
      </p:sp>
    </p:spTree>
    <p:extLst>
      <p:ext uri="{BB962C8B-B14F-4D97-AF65-F5344CB8AC3E}">
        <p14:creationId xmlns:p14="http://schemas.microsoft.com/office/powerpoint/2010/main" val="3694222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CDC13B3-F500-B94E-AEDF-79D9B3032910}"/>
              </a:ext>
            </a:extLst>
          </p:cNvPr>
          <p:cNvSpPr txBox="1"/>
          <p:nvPr/>
        </p:nvSpPr>
        <p:spPr>
          <a:xfrm>
            <a:off x="996950" y="552450"/>
            <a:ext cx="35116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Q2</a:t>
            </a:r>
            <a:r>
              <a:rPr lang="en-US" altLang="zh-CN" dirty="0"/>
              <a:t> 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Does it achieve its aims?</a:t>
            </a:r>
          </a:p>
          <a:p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154BC04-4367-2BCB-82AA-64D810638F76}"/>
              </a:ext>
            </a:extLst>
          </p:cNvPr>
          <p:cNvSpPr txBox="1"/>
          <p:nvPr/>
        </p:nvSpPr>
        <p:spPr>
          <a:xfrm>
            <a:off x="688974" y="4516566"/>
            <a:ext cx="26468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符合例子中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2-3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分的标准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A18(1,5,4)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56AD823-4CA7-2ECE-2B17-C8B639B3B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7479" y="1375377"/>
            <a:ext cx="5757042" cy="78822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429913F-347F-694A-953F-522EB3238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75" y="2194772"/>
            <a:ext cx="10814050" cy="189342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8B78CC0-0300-549D-50C6-1ABBE52FCFFE}"/>
              </a:ext>
            </a:extLst>
          </p:cNvPr>
          <p:cNvSpPr txBox="1"/>
          <p:nvPr/>
        </p:nvSpPr>
        <p:spPr>
          <a:xfrm>
            <a:off x="688974" y="4239567"/>
            <a:ext cx="99028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问题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评分为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时，也补充一个问题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的评分，根据自己的判断。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7F307DC-F598-D94E-8D2D-316B4D6607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73137"/>
            <a:ext cx="12192000" cy="100787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19133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CDC13B3-F500-B94E-AEDF-79D9B3032910}"/>
              </a:ext>
            </a:extLst>
          </p:cNvPr>
          <p:cNvSpPr txBox="1"/>
          <p:nvPr/>
        </p:nvSpPr>
        <p:spPr>
          <a:xfrm>
            <a:off x="996950" y="552450"/>
            <a:ext cx="21146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Q3</a:t>
            </a:r>
            <a:r>
              <a:rPr lang="en-US" altLang="zh-CN" dirty="0"/>
              <a:t> 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Is it relevant?</a:t>
            </a:r>
          </a:p>
          <a:p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154BC04-4367-2BCB-82AA-64D810638F76}"/>
              </a:ext>
            </a:extLst>
          </p:cNvPr>
          <p:cNvSpPr txBox="1"/>
          <p:nvPr/>
        </p:nvSpPr>
        <p:spPr>
          <a:xfrm>
            <a:off x="384175" y="3927220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B14(1,5,4)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B78CC0-0300-549D-50C6-1ABBE52FCFFE}"/>
              </a:ext>
            </a:extLst>
          </p:cNvPr>
          <p:cNvSpPr txBox="1"/>
          <p:nvPr/>
        </p:nvSpPr>
        <p:spPr>
          <a:xfrm>
            <a:off x="688974" y="2274242"/>
            <a:ext cx="99028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这里的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relevant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指的是与现实所相关的程度。是否解决可能提出的问题，建议是否可行。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46ACBF7-9E89-E471-05AC-2ABFA2A55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7708" y="1009915"/>
            <a:ext cx="4156584" cy="112325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3CF7ECF-1070-1994-7359-AECF2ED0C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175" y="2595754"/>
            <a:ext cx="11423650" cy="110140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42C7B75-C1C3-FFE5-E919-4E740155A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204219"/>
            <a:ext cx="10541000" cy="8684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2B543BCB-A808-E276-A69F-2E4BF21419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349653"/>
            <a:ext cx="10541000" cy="117309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74954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CDC13B3-F500-B94E-AEDF-79D9B3032910}"/>
              </a:ext>
            </a:extLst>
          </p:cNvPr>
          <p:cNvSpPr txBox="1"/>
          <p:nvPr/>
        </p:nvSpPr>
        <p:spPr>
          <a:xfrm>
            <a:off x="996950" y="552450"/>
            <a:ext cx="108108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*Q4 Is it clear what sources of information were used to compile the publication (other than the author or producer)?</a:t>
            </a:r>
          </a:p>
          <a:p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154BC04-4367-2BCB-82AA-64D810638F76}"/>
              </a:ext>
            </a:extLst>
          </p:cNvPr>
          <p:cNvSpPr txBox="1"/>
          <p:nvPr/>
        </p:nvSpPr>
        <p:spPr>
          <a:xfrm>
            <a:off x="782637" y="2542920"/>
            <a:ext cx="50321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要同时具备文内引用和文后引用才有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分。只有一部分只能给部分分数。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F8235DD-E448-B265-5B23-89BACA9A2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637" y="1325523"/>
            <a:ext cx="10810875" cy="103749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29B82FD-F748-6A15-2350-7494F4242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99820"/>
            <a:ext cx="12192000" cy="731133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24873E9-BF04-CF3A-495E-006240568959}"/>
              </a:ext>
            </a:extLst>
          </p:cNvPr>
          <p:cNvSpPr txBox="1"/>
          <p:nvPr/>
        </p:nvSpPr>
        <p:spPr>
          <a:xfrm>
            <a:off x="782637" y="3772354"/>
            <a:ext cx="2492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符合例子中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分的标准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A10(5,1,1)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3F8C772C-70CA-6AE7-AFBA-F9AB2FA937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059" y="4090754"/>
            <a:ext cx="10585450" cy="200797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56965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CDC13B3-F500-B94E-AEDF-79D9B3032910}"/>
              </a:ext>
            </a:extLst>
          </p:cNvPr>
          <p:cNvSpPr txBox="1"/>
          <p:nvPr/>
        </p:nvSpPr>
        <p:spPr>
          <a:xfrm>
            <a:off x="996950" y="552450"/>
            <a:ext cx="108108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*Q5 Is it clear when the information used or reported in the publication was produced?</a:t>
            </a:r>
          </a:p>
          <a:p>
            <a:pPr algn="l"/>
            <a:endParaRPr lang="en-US" altLang="zh-CN" b="1" i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154BC04-4367-2BCB-82AA-64D810638F76}"/>
              </a:ext>
            </a:extLst>
          </p:cNvPr>
          <p:cNvSpPr txBox="1"/>
          <p:nvPr/>
        </p:nvSpPr>
        <p:spPr>
          <a:xfrm>
            <a:off x="782637" y="2542920"/>
            <a:ext cx="818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信息来源的发布时间。问题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评级为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的文章本问题的评级不可能很高。大部分文章应该不会在本问题上获得较高分数。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和信息的“新”的程度无关。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24873E9-BF04-CF3A-495E-006240568959}"/>
              </a:ext>
            </a:extLst>
          </p:cNvPr>
          <p:cNvSpPr txBox="1"/>
          <p:nvPr/>
        </p:nvSpPr>
        <p:spPr>
          <a:xfrm>
            <a:off x="782637" y="3318509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符合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1-2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分的标准：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A13(5,5,2)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E5C846E-EC9F-71EE-00F9-5A869D9A4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650" y="1457870"/>
            <a:ext cx="7613650" cy="77112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E6E8212-2734-411C-A33E-6CA8C091C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475" y="4114176"/>
            <a:ext cx="10591800" cy="19820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07987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CDC13B3-F500-B94E-AEDF-79D9B3032910}"/>
              </a:ext>
            </a:extLst>
          </p:cNvPr>
          <p:cNvSpPr txBox="1"/>
          <p:nvPr/>
        </p:nvSpPr>
        <p:spPr>
          <a:xfrm>
            <a:off x="996950" y="552450"/>
            <a:ext cx="108108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Q6</a:t>
            </a:r>
            <a:r>
              <a:rPr lang="en-US" altLang="zh-CN" dirty="0"/>
              <a:t> 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Is it balanced and unbiased?</a:t>
            </a:r>
          </a:p>
          <a:p>
            <a:pPr algn="l"/>
            <a:endParaRPr lang="en-US" altLang="zh-CN" b="1" i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154BC04-4367-2BCB-82AA-64D810638F76}"/>
              </a:ext>
            </a:extLst>
          </p:cNvPr>
          <p:cNvSpPr txBox="1"/>
          <p:nvPr/>
        </p:nvSpPr>
        <p:spPr>
          <a:xfrm>
            <a:off x="782637" y="2542920"/>
            <a:ext cx="108029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提供多种可选的信息，而不是用“新”或“震撼”吸引。除非有说明有别的选择，否则介绍单一方法的文章不应有高分评价。外部评估的证据可以辅助判断。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24873E9-BF04-CF3A-495E-006240568959}"/>
              </a:ext>
            </a:extLst>
          </p:cNvPr>
          <p:cNvSpPr txBox="1"/>
          <p:nvPr/>
        </p:nvSpPr>
        <p:spPr>
          <a:xfrm>
            <a:off x="782637" y="3761083"/>
            <a:ext cx="3262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个人认为还算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balanced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的文章：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B15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1,1,4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EA90746-CAF8-6A21-5AD5-C77377C22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633" y="1202782"/>
            <a:ext cx="6004734" cy="104458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FCB579C-C592-5723-3B67-968335E40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675" y="2821240"/>
            <a:ext cx="11233150" cy="939843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DCE4A7B-DD27-AFE4-9435-BB8911B0C6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2482" y="4489654"/>
            <a:ext cx="9367035" cy="147559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52020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CDC13B3-F500-B94E-AEDF-79D9B3032910}"/>
              </a:ext>
            </a:extLst>
          </p:cNvPr>
          <p:cNvSpPr txBox="1"/>
          <p:nvPr/>
        </p:nvSpPr>
        <p:spPr>
          <a:xfrm>
            <a:off x="996950" y="552450"/>
            <a:ext cx="108108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Q7</a:t>
            </a:r>
            <a:r>
              <a:rPr lang="en-US" altLang="zh-CN" dirty="0"/>
              <a:t> 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Does it provide details of additional sources of support and information?</a:t>
            </a:r>
          </a:p>
          <a:p>
            <a:pPr algn="l"/>
            <a:endParaRPr lang="en-US" altLang="zh-CN" b="1" i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154BC04-4367-2BCB-82AA-64D810638F76}"/>
              </a:ext>
            </a:extLst>
          </p:cNvPr>
          <p:cNvSpPr txBox="1"/>
          <p:nvPr/>
        </p:nvSpPr>
        <p:spPr>
          <a:xfrm>
            <a:off x="782637" y="2542920"/>
            <a:ext cx="31085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其他信息来源，如有用的地址、进一步阅读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这个问题上的评分接近于相反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A19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5,1,3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B445920-C2FC-21EF-8E39-F51FCAC8F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750" y="1359749"/>
            <a:ext cx="9588500" cy="744508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0B4D2A8-18C7-1F40-4C41-86677A960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825" y="3906101"/>
            <a:ext cx="9658350" cy="26490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19958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CDC13B3-F500-B94E-AEDF-79D9B3032910}"/>
              </a:ext>
            </a:extLst>
          </p:cNvPr>
          <p:cNvSpPr txBox="1"/>
          <p:nvPr/>
        </p:nvSpPr>
        <p:spPr>
          <a:xfrm>
            <a:off x="996950" y="552450"/>
            <a:ext cx="108108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Q8</a:t>
            </a:r>
            <a:r>
              <a:rPr lang="en-US" altLang="zh-CN" dirty="0"/>
              <a:t> 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Does it refer to areas of uncertainty?</a:t>
            </a:r>
          </a:p>
          <a:p>
            <a:pPr algn="l"/>
            <a:endParaRPr lang="en-US" altLang="zh-CN" b="1" i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154BC04-4367-2BCB-82AA-64D810638F76}"/>
              </a:ext>
            </a:extLst>
          </p:cNvPr>
          <p:cNvSpPr txBox="1"/>
          <p:nvPr/>
        </p:nvSpPr>
        <p:spPr>
          <a:xfrm>
            <a:off x="782637" y="2542920"/>
            <a:ext cx="2185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强调治疗选择的不确定性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这个问题上的评分接近于相反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A1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4,1,5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2966A4E-6F82-D9E9-A677-B8C5842EC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63" y="1311519"/>
            <a:ext cx="10810875" cy="82208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806C6E6-DF7F-9372-593A-FACFD87A2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63" y="3741056"/>
            <a:ext cx="10810875" cy="18256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5266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CDC13B3-F500-B94E-AEDF-79D9B3032910}"/>
              </a:ext>
            </a:extLst>
          </p:cNvPr>
          <p:cNvSpPr txBox="1"/>
          <p:nvPr/>
        </p:nvSpPr>
        <p:spPr>
          <a:xfrm>
            <a:off x="996950" y="552450"/>
            <a:ext cx="108108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*Q9</a:t>
            </a:r>
            <a:r>
              <a:rPr lang="en-US" altLang="zh-CN" dirty="0"/>
              <a:t> 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Does it describe how each treatment works?</a:t>
            </a:r>
          </a:p>
          <a:p>
            <a:pPr algn="l"/>
            <a:endParaRPr lang="en-US" altLang="zh-CN" b="1" i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154BC04-4367-2BCB-82AA-64D810638F76}"/>
              </a:ext>
            </a:extLst>
          </p:cNvPr>
          <p:cNvSpPr txBox="1"/>
          <p:nvPr/>
        </p:nvSpPr>
        <p:spPr>
          <a:xfrm>
            <a:off x="690563" y="3170071"/>
            <a:ext cx="3724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治疗方法如何起作用，只涉及文章中描述的治疗方法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分歧很大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A19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1,3,5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0DD7CF2-DE7D-E969-FFD8-E9CBB3227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275" y="1291285"/>
            <a:ext cx="9061450" cy="949168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2E15F2D-3C5B-2732-C146-2ABC81B42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" y="2297285"/>
            <a:ext cx="10204450" cy="76321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A798EF5-55F5-C960-01BD-B55C4D63A5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275" y="4299152"/>
            <a:ext cx="10331450" cy="9112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23416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CDC13B3-F500-B94E-AEDF-79D9B3032910}"/>
              </a:ext>
            </a:extLst>
          </p:cNvPr>
          <p:cNvSpPr txBox="1"/>
          <p:nvPr/>
        </p:nvSpPr>
        <p:spPr>
          <a:xfrm>
            <a:off x="996950" y="552450"/>
            <a:ext cx="10810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*Q10</a:t>
            </a:r>
            <a:r>
              <a:rPr lang="en-US" altLang="zh-CN" dirty="0"/>
              <a:t> 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Does it describe the benefits of each treatment?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154BC04-4367-2BCB-82AA-64D810638F76}"/>
              </a:ext>
            </a:extLst>
          </p:cNvPr>
          <p:cNvSpPr txBox="1"/>
          <p:nvPr/>
        </p:nvSpPr>
        <p:spPr>
          <a:xfrm>
            <a:off x="690563" y="3170071"/>
            <a:ext cx="16466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分歧很大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B6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5,1,2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D60FE9E-9A83-05C0-8C5F-4699752FA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360" y="921782"/>
            <a:ext cx="3789877" cy="960952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2BB70CC-34CC-B324-9D91-B69582862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63" y="2002668"/>
            <a:ext cx="10810875" cy="99997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0EE4881-48B0-2A0D-968E-E2ADFE03A8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793" y="4541299"/>
            <a:ext cx="10666413" cy="42507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46139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CDC13B3-F500-B94E-AEDF-79D9B3032910}"/>
              </a:ext>
            </a:extLst>
          </p:cNvPr>
          <p:cNvSpPr txBox="1"/>
          <p:nvPr/>
        </p:nvSpPr>
        <p:spPr>
          <a:xfrm>
            <a:off x="996950" y="552450"/>
            <a:ext cx="10810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*Q11</a:t>
            </a:r>
            <a:r>
              <a:rPr lang="en-US" altLang="zh-CN" dirty="0"/>
              <a:t> 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Does it describe the risks of each treatment?</a:t>
            </a:r>
          </a:p>
          <a:p>
            <a:pPr algn="l"/>
            <a:endParaRPr lang="en-US" altLang="zh-CN" b="1" i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154BC04-4367-2BCB-82AA-64D810638F76}"/>
              </a:ext>
            </a:extLst>
          </p:cNvPr>
          <p:cNvSpPr txBox="1"/>
          <p:nvPr/>
        </p:nvSpPr>
        <p:spPr>
          <a:xfrm>
            <a:off x="690563" y="3170071"/>
            <a:ext cx="17235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分歧很大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A15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1,4,5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668BFD6-3E8B-BDE2-1723-B4D8686BF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9895" y="983532"/>
            <a:ext cx="3812207" cy="85170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28FA1A7-ACDB-4517-19E5-C90EC5A5D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3" y="2073773"/>
            <a:ext cx="9391650" cy="837211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482739F-3145-3341-36D8-F979D9E887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0173" y="4296153"/>
            <a:ext cx="9391650" cy="14929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16087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CDC13B3-F500-B94E-AEDF-79D9B3032910}"/>
              </a:ext>
            </a:extLst>
          </p:cNvPr>
          <p:cNvSpPr txBox="1"/>
          <p:nvPr/>
        </p:nvSpPr>
        <p:spPr>
          <a:xfrm>
            <a:off x="996950" y="552450"/>
            <a:ext cx="10810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Q12</a:t>
            </a:r>
            <a:r>
              <a:rPr lang="en-US" altLang="zh-CN" dirty="0"/>
              <a:t> 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Does it describe what would happen if no treatment is used?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154BC04-4367-2BCB-82AA-64D810638F76}"/>
              </a:ext>
            </a:extLst>
          </p:cNvPr>
          <p:cNvSpPr txBox="1"/>
          <p:nvPr/>
        </p:nvSpPr>
        <p:spPr>
          <a:xfrm>
            <a:off x="996950" y="3429000"/>
            <a:ext cx="44165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这个问题只需要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any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就行，不用把每一种可能的风险都描述到。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分歧很大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D17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4,1,3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6D02C64-88E8-E85C-1E8B-01C6A6BEC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300" y="1149108"/>
            <a:ext cx="8407400" cy="944129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60CFECE-BC41-F9C2-74B3-358A536CC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173" y="2320563"/>
            <a:ext cx="9899650" cy="100126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9E8DA64-069B-ED8A-0473-CC5A39DAE4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625" y="4413378"/>
            <a:ext cx="10064750" cy="37415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16546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CDC13B3-F500-B94E-AEDF-79D9B3032910}"/>
              </a:ext>
            </a:extLst>
          </p:cNvPr>
          <p:cNvSpPr txBox="1"/>
          <p:nvPr/>
        </p:nvSpPr>
        <p:spPr>
          <a:xfrm>
            <a:off x="996950" y="552450"/>
            <a:ext cx="10810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Q13</a:t>
            </a:r>
            <a:r>
              <a:rPr lang="en-US" altLang="zh-CN" dirty="0"/>
              <a:t> 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Does it describe how the treatment choices affect overall quality of life?</a:t>
            </a:r>
          </a:p>
          <a:p>
            <a:endParaRPr lang="en-US" altLang="zh-CN" b="1" i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154BC04-4367-2BCB-82AA-64D810638F76}"/>
              </a:ext>
            </a:extLst>
          </p:cNvPr>
          <p:cNvSpPr txBox="1"/>
          <p:nvPr/>
        </p:nvSpPr>
        <p:spPr>
          <a:xfrm>
            <a:off x="996950" y="3429000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治疗方案对生活的影响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分歧很大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D17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3,1,4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8D38DA3-A318-BEFE-DC08-53BC97BB8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87" y="2200074"/>
            <a:ext cx="10334625" cy="121201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3309076-30FA-B17F-7DB3-6FA265503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574" y="1198780"/>
            <a:ext cx="8070850" cy="70664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4321A6F-CECF-8ED8-1BEB-988B1D781D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9598" y="4058262"/>
            <a:ext cx="6072801" cy="98691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426263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CDC13B3-F500-B94E-AEDF-79D9B3032910}"/>
              </a:ext>
            </a:extLst>
          </p:cNvPr>
          <p:cNvSpPr txBox="1"/>
          <p:nvPr/>
        </p:nvSpPr>
        <p:spPr>
          <a:xfrm>
            <a:off x="996950" y="552450"/>
            <a:ext cx="10810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Q14</a:t>
            </a:r>
            <a:r>
              <a:rPr lang="en-US" altLang="zh-CN" dirty="0"/>
              <a:t> 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Is it clear that there may be more than one possible treatment choice?</a:t>
            </a:r>
          </a:p>
          <a:p>
            <a:endParaRPr lang="en-US" altLang="zh-CN" b="1" i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154BC04-4367-2BCB-82AA-64D810638F76}"/>
              </a:ext>
            </a:extLst>
          </p:cNvPr>
          <p:cNvSpPr txBox="1"/>
          <p:nvPr/>
        </p:nvSpPr>
        <p:spPr>
          <a:xfrm>
            <a:off x="996950" y="3918738"/>
            <a:ext cx="100335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治疗方法是可以选择的，即使文章没有说明所有的治疗方法，也应当提到能选择其他的方法。高分：无法推荐最佳治疗方法；低分：适用于所有人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分歧很大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D19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1,5,2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7758DFD-2A8B-1810-EE6C-A31CF20C8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123" y="1215697"/>
            <a:ext cx="7143750" cy="67993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1E86BDE-380B-734A-A76D-85B5AFA26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240" y="1912550"/>
            <a:ext cx="10033516" cy="1754084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400402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CDC13B3-F500-B94E-AEDF-79D9B3032910}"/>
              </a:ext>
            </a:extLst>
          </p:cNvPr>
          <p:cNvSpPr txBox="1"/>
          <p:nvPr/>
        </p:nvSpPr>
        <p:spPr>
          <a:xfrm>
            <a:off x="996950" y="552450"/>
            <a:ext cx="10810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Q15</a:t>
            </a:r>
            <a:r>
              <a:rPr lang="en-US" altLang="zh-CN" dirty="0"/>
              <a:t> 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Does it provide support for shared decision-making?</a:t>
            </a:r>
          </a:p>
          <a:p>
            <a:endParaRPr lang="en-US" altLang="zh-CN" b="1" i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154BC04-4367-2BCB-82AA-64D810638F76}"/>
              </a:ext>
            </a:extLst>
          </p:cNvPr>
          <p:cNvSpPr txBox="1"/>
          <p:nvPr/>
        </p:nvSpPr>
        <p:spPr>
          <a:xfrm>
            <a:off x="996950" y="3918738"/>
            <a:ext cx="11110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提出一些帮助选择治疗决策的问题。可以帮助患者列出一个在选择治疗方法时需要考虑的问题清单。评分的标准在于，是否支持患者与其他人进行治疗决策选择。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比如建议和医生在某些方面沟通。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91ABB6A-EC52-A523-54A5-870C3D6CD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50" y="2481390"/>
            <a:ext cx="10731500" cy="915743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60D87CC-731F-B306-995E-D792C203C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393" y="1191967"/>
            <a:ext cx="5577213" cy="947612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423419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CDC13B3-F500-B94E-AEDF-79D9B3032910}"/>
              </a:ext>
            </a:extLst>
          </p:cNvPr>
          <p:cNvSpPr txBox="1"/>
          <p:nvPr/>
        </p:nvSpPr>
        <p:spPr>
          <a:xfrm>
            <a:off x="996950" y="552450"/>
            <a:ext cx="108108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Q16</a:t>
            </a:r>
            <a:r>
              <a:rPr lang="en-US" altLang="zh-CN" dirty="0"/>
              <a:t> 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Based on the answers to all of the above questions, rate the overall quality of the publication as a source of information about treatment choices</a:t>
            </a:r>
          </a:p>
          <a:p>
            <a:endParaRPr lang="en-US" altLang="zh-CN" b="1" i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13AD71F-AF82-F33A-A1F1-33FBD2B94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125" y="1475780"/>
            <a:ext cx="10445750" cy="45148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406C410-F18D-0628-EC01-525CB78B8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250" y="2399110"/>
            <a:ext cx="9461500" cy="951096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E5BE95A6-09F3-9CBC-9BED-38F4D29CC8FC}"/>
              </a:ext>
            </a:extLst>
          </p:cNvPr>
          <p:cNvSpPr txBox="1"/>
          <p:nvPr/>
        </p:nvSpPr>
        <p:spPr>
          <a:xfrm>
            <a:off x="873125" y="386835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分歧很大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A12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5,2,2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218583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CDC13B3-F500-B94E-AEDF-79D9B3032910}"/>
              </a:ext>
            </a:extLst>
          </p:cNvPr>
          <p:cNvSpPr txBox="1"/>
          <p:nvPr/>
        </p:nvSpPr>
        <p:spPr>
          <a:xfrm>
            <a:off x="996950" y="552450"/>
            <a:ext cx="10810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Hints</a:t>
            </a:r>
            <a:endParaRPr lang="en-US" altLang="zh-CN" b="1" i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b="1" i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74076D7-9183-1A43-0B50-6181EE659667}"/>
              </a:ext>
            </a:extLst>
          </p:cNvPr>
          <p:cNvSpPr txBox="1"/>
          <p:nvPr/>
        </p:nvSpPr>
        <p:spPr>
          <a:xfrm>
            <a:off x="996950" y="1264438"/>
            <a:ext cx="38972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治疗选择包括不治疗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评分的重点在于信息来源的可靠性和治疗方案的选择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正确解读文本中的成分，比如链接、图片等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必要时可以打开网页链接确认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0FD3C22-AA44-6E59-5E7E-D973679D2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275" y="2345758"/>
            <a:ext cx="10585450" cy="200797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283D2FE3-791A-2467-FBAA-82FE12535426}"/>
              </a:ext>
            </a:extLst>
          </p:cNvPr>
          <p:cNvSpPr/>
          <p:nvPr/>
        </p:nvSpPr>
        <p:spPr>
          <a:xfrm>
            <a:off x="596900" y="3429000"/>
            <a:ext cx="4381500" cy="298450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F5B2FC2-4B32-5520-BF1D-B95291DBE526}"/>
              </a:ext>
            </a:extLst>
          </p:cNvPr>
          <p:cNvSpPr/>
          <p:nvPr/>
        </p:nvSpPr>
        <p:spPr>
          <a:xfrm>
            <a:off x="596900" y="3883025"/>
            <a:ext cx="4381500" cy="298450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7197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C9413281-502E-ADAD-1FEA-974F42B532B9}"/>
              </a:ext>
            </a:extLst>
          </p:cNvPr>
          <p:cNvSpPr/>
          <p:nvPr/>
        </p:nvSpPr>
        <p:spPr>
          <a:xfrm>
            <a:off x="400050" y="2717800"/>
            <a:ext cx="4806950" cy="41402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CDC13B3-F500-B94E-AEDF-79D9B3032910}"/>
              </a:ext>
            </a:extLst>
          </p:cNvPr>
          <p:cNvSpPr txBox="1"/>
          <p:nvPr/>
        </p:nvSpPr>
        <p:spPr>
          <a:xfrm>
            <a:off x="996950" y="55245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选文上的一些问题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154BC04-4367-2BCB-82AA-64D810638F76}"/>
              </a:ext>
            </a:extLst>
          </p:cNvPr>
          <p:cNvSpPr txBox="1"/>
          <p:nvPr/>
        </p:nvSpPr>
        <p:spPr>
          <a:xfrm>
            <a:off x="685800" y="1092200"/>
            <a:ext cx="104457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黑体" panose="02010609060101010101" pitchFamily="49" charset="-122"/>
                <a:ea typeface="黑体" panose="02010609060101010101" pitchFamily="49" charset="-122"/>
              </a:rPr>
              <a:t>选文相关性</a:t>
            </a:r>
            <a:endParaRPr lang="en-US" altLang="zh-CN" sz="1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D14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介绍的是“抑郁情绪”，而非抑郁症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200" b="1" dirty="0">
                <a:latin typeface="黑体" panose="02010609060101010101" pitchFamily="49" charset="-122"/>
                <a:ea typeface="黑体" panose="02010609060101010101" pitchFamily="49" charset="-122"/>
              </a:rPr>
              <a:t>选文质量</a:t>
            </a:r>
            <a:endParaRPr lang="en-US" altLang="zh-CN" sz="1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内容质量较差的文章（如百度医疗的问答）可以排除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200" b="1" dirty="0">
                <a:latin typeface="黑体" panose="02010609060101010101" pitchFamily="49" charset="-122"/>
                <a:ea typeface="黑体" panose="02010609060101010101" pitchFamily="49" charset="-122"/>
              </a:rPr>
              <a:t>搜索主题</a:t>
            </a:r>
            <a:endParaRPr lang="en-US" altLang="zh-CN" sz="1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是否聚焦于疾病的治疗，如“关节炎的治疗”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200" b="1" dirty="0">
                <a:latin typeface="黑体" panose="02010609060101010101" pitchFamily="49" charset="-122"/>
                <a:ea typeface="黑体" panose="02010609060101010101" pitchFamily="49" charset="-122"/>
              </a:rPr>
              <a:t>搜索引擎</a:t>
            </a:r>
            <a:endParaRPr lang="en-US" altLang="zh-CN" sz="1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百度的搜索质量不佳，广告、百度旗下的医疗网站排在前列；中文搜索引擎桌面端份额第一：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Bing</a:t>
            </a:r>
          </a:p>
          <a:p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317EF7B-AA0E-9DDF-E5C1-C90579F21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502" y="2846526"/>
            <a:ext cx="3333495" cy="3937000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2C35EF9B-4CAC-4915-5567-0367B2626F71}"/>
              </a:ext>
            </a:extLst>
          </p:cNvPr>
          <p:cNvSpPr/>
          <p:nvPr/>
        </p:nvSpPr>
        <p:spPr>
          <a:xfrm>
            <a:off x="6394450" y="2717800"/>
            <a:ext cx="4381500" cy="41402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92B264F-0E18-35E9-A8D1-11D547C4005A}"/>
              </a:ext>
            </a:extLst>
          </p:cNvPr>
          <p:cNvSpPr txBox="1"/>
          <p:nvPr/>
        </p:nvSpPr>
        <p:spPr>
          <a:xfrm>
            <a:off x="562832" y="4102794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Bing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8FF4A74-891F-CA0B-4B6A-D18BF5CB3193}"/>
              </a:ext>
            </a:extLst>
          </p:cNvPr>
          <p:cNvSpPr txBox="1"/>
          <p:nvPr/>
        </p:nvSpPr>
        <p:spPr>
          <a:xfrm>
            <a:off x="6493732" y="4102794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Baidu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7E68EB5-0C50-1E6F-BB67-41BB182F8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681" y="3090718"/>
            <a:ext cx="3265370" cy="3246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749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B7D1187-5422-9A7A-DEC0-BC4C627CF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956" y="565150"/>
            <a:ext cx="4047803" cy="59182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D21D8B8-C215-897A-AA14-3D7964A617F1}"/>
              </a:ext>
            </a:extLst>
          </p:cNvPr>
          <p:cNvSpPr txBox="1"/>
          <p:nvPr/>
        </p:nvSpPr>
        <p:spPr>
          <a:xfrm>
            <a:off x="5137150" y="685800"/>
            <a:ext cx="67500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黑体" panose="02010609060101010101" pitchFamily="49" charset="-122"/>
                <a:ea typeface="黑体" panose="02010609060101010101" pitchFamily="49" charset="-122"/>
              </a:rPr>
              <a:t>文章种类</a:t>
            </a:r>
            <a:endParaRPr lang="en-US" altLang="zh-CN" sz="1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排除视频、图片的文章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排除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PDF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等文件的网页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类似知乎这样的网页，一个较长的回答就是一篇文章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AC40B0A-D835-DEDD-C146-8A882CC72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150" y="1797050"/>
            <a:ext cx="3042654" cy="46863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7F1C161-56B9-FF97-1405-74DB6F4E49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3304" y="2565400"/>
            <a:ext cx="3827763" cy="290709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11069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</TotalTime>
  <Words>852</Words>
  <Application>Microsoft Office PowerPoint</Application>
  <PresentationFormat>宽屏</PresentationFormat>
  <Paragraphs>105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等线</vt:lpstr>
      <vt:lpstr>等线 Light</vt:lpstr>
      <vt:lpstr>黑体</vt:lpstr>
      <vt:lpstr>宋体</vt:lpstr>
      <vt:lpstr>Microsoft YaHei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兴玺 李</dc:creator>
  <cp:lastModifiedBy>兴玺 李</cp:lastModifiedBy>
  <cp:revision>5</cp:revision>
  <dcterms:created xsi:type="dcterms:W3CDTF">2024-06-06T08:42:14Z</dcterms:created>
  <dcterms:modified xsi:type="dcterms:W3CDTF">2025-01-08T12:13:40Z</dcterms:modified>
</cp:coreProperties>
</file>